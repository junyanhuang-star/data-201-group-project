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E88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SF Rent Board Housing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2412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300" b="0">
                <a:solidFill>
                  <a:srgbClr val="CDE0E8"/>
                </a:solidFill>
                <a:latin typeface="Aptos"/>
              </a:defRPr>
            </a:pPr>
            <a:r>
              <a:t>Cleaning assessment and 3NF relational database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337560"/>
            <a:ext cx="4800600" cy="685800"/>
          </a:xfrm>
          <a:prstGeom prst="roundRect">
            <a:avLst/>
          </a:prstGeom>
          <a:solidFill>
            <a:srgbClr val="24435E"/>
          </a:solidFill>
          <a:ln>
            <a:solidFill>
              <a:srgbClr val="12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2B46"/>
                </a:solidFill>
                <a:latin typeface="Aptos"/>
              </a:defRPr>
            </a:pPr>
            <a:r>
              <a:t>Professor: [Professor Name]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80" y="3337560"/>
            <a:ext cx="4800600" cy="685800"/>
          </a:xfrm>
          <a:prstGeom prst="roundRect">
            <a:avLst/>
          </a:prstGeom>
          <a:solidFill>
            <a:srgbClr val="24435E"/>
          </a:solidFill>
          <a:ln>
            <a:solidFill>
              <a:srgbClr val="E88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2B46"/>
                </a:solidFill>
                <a:latin typeface="Aptos"/>
              </a:defRPr>
            </a:pPr>
            <a:r>
              <a:t>Team: [Team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617720"/>
            <a:ext cx="1024128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Team members: [Add names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806440"/>
            <a:ext cx="1033272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00" b="0">
                <a:solidFill>
                  <a:srgbClr val="B4CCD7"/>
                </a:solidFill>
                <a:latin typeface="Aptos"/>
              </a:defRPr>
            </a:pPr>
            <a:r>
              <a:t>DATA 201  |  Database design and normalization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201400" cy="18288"/>
          </a:xfrm>
          <a:prstGeom prst="rect">
            <a:avLst/>
          </a:prstGeom>
          <a:solidFill>
            <a:srgbClr val="DC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SF Rent Board Housing Inventory  |  DATA 201  |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Build a reliable relational database from a large, messy housing-inventory export.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Clean inconsistent labels, ranges, dates, utilities, and duplicate filings.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Organize the data into a 3NF schema with clear primary keys and foreign keys.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Validate that the database preserves the original 550,201 unit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440680"/>
            <a:ext cx="2423160" cy="594360"/>
          </a:xfrm>
          <a:prstGeom prst="roundRect">
            <a:avLst/>
          </a:prstGeom>
          <a:solidFill>
            <a:srgbClr val="E7F6F7"/>
          </a:solidFill>
          <a:ln>
            <a:solidFill>
              <a:srgbClr val="12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2B46"/>
                </a:solidFill>
                <a:latin typeface="Aptos"/>
              </a:defRPr>
            </a:pPr>
            <a:r>
              <a:t>550,201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5440680"/>
            <a:ext cx="2423160" cy="594360"/>
          </a:xfrm>
          <a:prstGeom prst="roundRect">
            <a:avLst/>
          </a:prstGeom>
          <a:solidFill>
            <a:srgbClr val="FFF4E8"/>
          </a:solidFill>
          <a:ln>
            <a:solidFill>
              <a:srgbClr val="E88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2B46"/>
                </a:solidFill>
                <a:latin typeface="Aptos"/>
              </a:defRPr>
            </a:pPr>
            <a:r>
              <a:t>28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5440680"/>
            <a:ext cx="2423160" cy="594360"/>
          </a:xfrm>
          <a:prstGeom prst="roundRect">
            <a:avLst/>
          </a:prstGeom>
          <a:solidFill>
            <a:srgbClr val="E7F6F7"/>
          </a:solidFill>
          <a:ln>
            <a:solidFill>
              <a:srgbClr val="12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2B46"/>
                </a:solidFill>
                <a:latin typeface="Aptos"/>
              </a:defRPr>
            </a:pPr>
            <a:r>
              <a:t>21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5440680"/>
            <a:ext cx="2423160" cy="594360"/>
          </a:xfrm>
          <a:prstGeom prst="roundRect">
            <a:avLst/>
          </a:prstGeom>
          <a:solidFill>
            <a:srgbClr val="FFF4E8"/>
          </a:solidFill>
          <a:ln>
            <a:solidFill>
              <a:srgbClr val="E88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2B46"/>
                </a:solidFill>
                <a:latin typeface="Aptos"/>
              </a:defRPr>
            </a:pPr>
            <a:r>
              <a:t>3NF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Dataset selection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201400" cy="18288"/>
          </a:xfrm>
          <a:prstGeom prst="rect">
            <a:avLst/>
          </a:prstGeom>
          <a:solidFill>
            <a:srgbClr val="DC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SF Rent Board Housing Inventory  |  DATA 201  |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The data describes one rental-unit record from one annual filing.</a:t>
            </a:r>
          </a:p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It is complex enough for database design because it includes categories, ranges, dates, utilities, history, and quality problems.</a:t>
            </a:r>
          </a:p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The project supports questions about filing years, occupancy, rent bands, utilities, and data quality.</a:t>
            </a:r>
          </a:p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Rent and square footage are bands, so midpoint assumptions must be stated clearly.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440680"/>
            <a:ext cx="9966960" cy="640080"/>
          </a:xfrm>
          <a:prstGeom prst="roundRect">
            <a:avLst/>
          </a:prstGeom>
          <a:solidFill>
            <a:srgbClr val="E7F6F7"/>
          </a:solidFill>
          <a:ln>
            <a:solidFill>
              <a:srgbClr val="12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62B46"/>
                </a:solidFill>
                <a:latin typeface="Aptos"/>
              </a:defRPr>
            </a:pPr>
            <a:r>
              <a:t>Goal: turn a wide flat file into a clean, auditable relational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What cleaning was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201400" cy="18288"/>
          </a:xfrm>
          <a:prstGeom prst="rect">
            <a:avLst/>
          </a:prstGeom>
          <a:solidFill>
            <a:srgbClr val="DC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SF Rent Board Housing Inventory  |  DATA 201  |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A"/>
                </a:solidFill>
                <a:latin typeface="Aptos"/>
              </a:defRPr>
            </a:pPr>
            <a:r>
              <a:t>Bedroom and bathroom fields contained spelling variations, numeric text, categories, and unparseable labels.</a:t>
            </a:r>
          </a:p>
          <a:p>
            <a:pPr>
              <a:spcAft>
                <a:spcPts val="1200"/>
              </a:spcAft>
              <a:defRPr sz="1800">
                <a:solidFill>
                  <a:srgbClr val="26303A"/>
                </a:solidFill>
                <a:latin typeface="Aptos"/>
              </a:defRPr>
            </a:pPr>
            <a:r>
              <a:t>Monthly rent and square footage were stored as ranges rather than exact numeric values.</a:t>
            </a:r>
          </a:p>
          <a:p>
            <a:pPr>
              <a:spcAft>
                <a:spcPts val="1200"/>
              </a:spcAft>
              <a:defRPr sz="1800">
                <a:solidFill>
                  <a:srgbClr val="26303A"/>
                </a:solidFill>
                <a:latin typeface="Aptos"/>
              </a:defRPr>
            </a:pPr>
            <a:r>
              <a:t>Utility information was spread across checkboxes and a multi-valued free-text field.</a:t>
            </a:r>
          </a:p>
          <a:p>
            <a:pPr>
              <a:spcAft>
                <a:spcPts val="1200"/>
              </a:spcAft>
              <a:defRPr sz="1800">
                <a:solidFill>
                  <a:srgbClr val="26303A"/>
                </a:solidFill>
                <a:latin typeface="Aptos"/>
              </a:defRPr>
            </a:pPr>
            <a:r>
              <a:t>Invalid dates were preserved through quality flags instead of being silently dropped.</a:t>
            </a:r>
          </a:p>
          <a:p>
            <a:pPr>
              <a:spcAft>
                <a:spcPts val="1200"/>
              </a:spcAft>
              <a:defRPr sz="1800">
                <a:solidFill>
                  <a:srgbClr val="26303A"/>
                </a:solidFill>
                <a:latin typeface="Aptos"/>
              </a:defRPr>
            </a:pPr>
            <a:r>
              <a:t>Identical non-key records were tagged as duplicate groups.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Entity-relationship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201400" cy="18288"/>
          </a:xfrm>
          <a:prstGeom prst="rect">
            <a:avLst/>
          </a:prstGeom>
          <a:solidFill>
            <a:srgbClr val="DC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SF Rent Board Housing Inventory  |  DATA 201  |  5</a:t>
            </a:r>
          </a:p>
        </p:txBody>
      </p:sp>
      <p:pic>
        <p:nvPicPr>
          <p:cNvPr id="6" name="Picture 5" descr="RentBoard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41248"/>
            <a:ext cx="1083564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Normalization: 1NF, 2NF, and 3NF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201400" cy="18288"/>
          </a:xfrm>
          <a:prstGeom prst="rect">
            <a:avLst/>
          </a:prstGeom>
          <a:solidFill>
            <a:srgbClr val="DC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SF Rent Board Housing Inventory  |  DATA 201  |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88720"/>
            <a:ext cx="1234440" cy="594360"/>
          </a:xfrm>
          <a:prstGeom prst="roundRect">
            <a:avLst/>
          </a:prstGeom>
          <a:solidFill>
            <a:srgbClr val="E7F6F7"/>
          </a:solidFill>
          <a:ln>
            <a:solidFill>
              <a:srgbClr val="12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62B46"/>
                </a:solidFill>
                <a:latin typeface="Aptos"/>
              </a:defRPr>
            </a:pPr>
            <a:r>
              <a:t>1NF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9052560" cy="6400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800" b="0">
                <a:solidFill>
                  <a:srgbClr val="26303A"/>
                </a:solidFill>
                <a:latin typeface="Aptos"/>
              </a:defRPr>
            </a:pPr>
            <a:r>
              <a:t>Utilities and occupancy history were moved into separate rows so values are atomic.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1234440" cy="594360"/>
          </a:xfrm>
          <a:prstGeom prst="roundRect">
            <a:avLst/>
          </a:prstGeom>
          <a:solidFill>
            <a:srgbClr val="FFF4E8"/>
          </a:solidFill>
          <a:ln>
            <a:solidFill>
              <a:srgbClr val="E88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62B46"/>
                </a:solidFill>
                <a:latin typeface="Aptos"/>
              </a:defRPr>
            </a:pPr>
            <a:r>
              <a:t>2NF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9052560" cy="6400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800" b="0">
                <a:solidFill>
                  <a:srgbClr val="26303A"/>
                </a:solidFill>
                <a:latin typeface="Aptos"/>
              </a:defRPr>
            </a:pPr>
            <a:r>
              <a:t>unit_record uses the single-column key unique_id, so partial dependencies cannot occur.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49039"/>
            <a:ext cx="1234440" cy="594360"/>
          </a:xfrm>
          <a:prstGeom prst="roundRect">
            <a:avLst/>
          </a:prstGeom>
          <a:solidFill>
            <a:srgbClr val="E7F6F7"/>
          </a:solidFill>
          <a:ln>
            <a:solidFill>
              <a:srgbClr val="12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62B46"/>
                </a:solidFill>
                <a:latin typeface="Aptos"/>
              </a:defRPr>
            </a:pPr>
            <a:r>
              <a:t>3NF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49039"/>
            <a:ext cx="9052560" cy="7772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800" b="0">
                <a:solidFill>
                  <a:srgbClr val="26303A"/>
                </a:solidFill>
                <a:latin typeface="Aptos"/>
              </a:defRPr>
            </a:pPr>
            <a:r>
              <a:t>Repeated descriptions and derived attributes were moved into lookup tables such as rent_band and occupancy_type.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5303520"/>
            <a:ext cx="9875520" cy="640080"/>
          </a:xfrm>
          <a:prstGeom prst="roundRect">
            <a:avLst/>
          </a:prstGeom>
          <a:solidFill>
            <a:srgbClr val="F2F7F9"/>
          </a:solidFill>
          <a:ln>
            <a:solidFill>
              <a:srgbClr val="16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62B46"/>
                </a:solidFill>
                <a:latin typeface="Aptos"/>
              </a:defRPr>
            </a:pPr>
            <a:r>
              <a:t>Result: less repetition, clearer relationships, easier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201400" cy="18288"/>
          </a:xfrm>
          <a:prstGeom prst="rect">
            <a:avLst/>
          </a:prstGeom>
          <a:solidFill>
            <a:srgbClr val="DC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SF Rent Board Housing Inventory  |  DATA 201  |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unit_record is the central fact table and uses unique_id as its primary key.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Lookup tables store reusable descriptions for filing cycles, occupancy, bedrooms, bathrooms, rent, and square footage.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record_utility_included and record_quality_flag are junction tables because one record can have many related values.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occupancy_history is a child table because one unit record may have multiple history entries.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Primary keys and foreign keys make the relationships explicit.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Loading and validation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201400" cy="18288"/>
          </a:xfrm>
          <a:prstGeom prst="rect">
            <a:avLst/>
          </a:prstGeom>
          <a:solidFill>
            <a:srgbClr val="DC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SF Rent Board Housing Inventory  |  DATA 201  |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68880" cy="822960"/>
          </a:xfrm>
          <a:prstGeom prst="roundRect">
            <a:avLst/>
          </a:prstGeom>
          <a:solidFill>
            <a:srgbClr val="E7F6F7"/>
          </a:solidFill>
          <a:ln>
            <a:solidFill>
              <a:srgbClr val="12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700" b="1">
                <a:solidFill>
                  <a:srgbClr val="162B46"/>
                </a:solidFill>
                <a:latin typeface="Aptos"/>
              </a:defRPr>
            </a:pPr>
            <a:r>
              <a:t>550,201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4688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500" b="0">
                <a:solidFill>
                  <a:srgbClr val="5F6C78"/>
                </a:solidFill>
                <a:latin typeface="Aptos"/>
              </a:defRPr>
            </a:pPr>
            <a:r>
              <a:t>unit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234440"/>
            <a:ext cx="2468880" cy="822960"/>
          </a:xfrm>
          <a:prstGeom prst="roundRect">
            <a:avLst/>
          </a:prstGeom>
          <a:solidFill>
            <a:srgbClr val="FFF4E8"/>
          </a:solidFill>
          <a:ln>
            <a:solidFill>
              <a:srgbClr val="E88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700" b="1">
                <a:solidFill>
                  <a:srgbClr val="162B46"/>
                </a:solidFill>
                <a:latin typeface="Aptos"/>
              </a:defRPr>
            </a:pPr>
            <a:r>
              <a:t>81,004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48840"/>
            <a:ext cx="24688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500" b="0">
                <a:solidFill>
                  <a:srgbClr val="5F6C78"/>
                </a:solidFill>
                <a:latin typeface="Aptos"/>
              </a:defRPr>
            </a:pPr>
            <a:r>
              <a:t>history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2468880" cy="822960"/>
          </a:xfrm>
          <a:prstGeom prst="roundRect">
            <a:avLst/>
          </a:prstGeom>
          <a:solidFill>
            <a:srgbClr val="E7F6F7"/>
          </a:solidFill>
          <a:ln>
            <a:solidFill>
              <a:srgbClr val="12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700" b="1">
                <a:solidFill>
                  <a:srgbClr val="162B46"/>
                </a:solidFill>
                <a:latin typeface="Aptos"/>
              </a:defRPr>
            </a:pPr>
            <a:r>
              <a:t>700,552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24688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500" b="0">
                <a:solidFill>
                  <a:srgbClr val="5F6C78"/>
                </a:solidFill>
                <a:latin typeface="Aptos"/>
              </a:defRPr>
            </a:pPr>
            <a:r>
              <a:t>utility links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234440"/>
            <a:ext cx="2468880" cy="822960"/>
          </a:xfrm>
          <a:prstGeom prst="roundRect">
            <a:avLst/>
          </a:prstGeom>
          <a:solidFill>
            <a:srgbClr val="FFF4E8"/>
          </a:solidFill>
          <a:ln>
            <a:solidFill>
              <a:srgbClr val="E88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700" b="1">
                <a:solidFill>
                  <a:srgbClr val="162B4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148840"/>
            <a:ext cx="24688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>
              <a:defRPr sz="1500" b="0">
                <a:solidFill>
                  <a:srgbClr val="5F6C78"/>
                </a:solidFill>
                <a:latin typeface="Aptos"/>
              </a:defRPr>
            </a:pPr>
            <a:r>
              <a:t>duplicate unique 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The loader stages TSV files, loads tables in foreign-key order, and records quality issues instead of dropping them.</a:t>
            </a:r>
          </a:p>
          <a:p>
            <a:pPr>
              <a:spcAft>
                <a:spcPts val="1200"/>
              </a:spcAft>
              <a:defRPr sz="2000">
                <a:solidFill>
                  <a:srgbClr val="26303A"/>
                </a:solidFill>
                <a:latin typeface="Aptos"/>
              </a:defRPr>
            </a:pPr>
            <a:r>
              <a:t>Validation checks row counts, uniqueness, foreign-key relationships, and occupancy-date representations.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Analysis questions and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201400" cy="18288"/>
          </a:xfrm>
          <a:prstGeom prst="rect">
            <a:avLst/>
          </a:prstGeom>
          <a:solidFill>
            <a:srgbClr val="DC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SF Rent Board Housing Inventory  |  DATA 201  |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How many records were filed in each year?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How are records distributed across occupancy types?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Which rent and square-footage bands are most common?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Which utilities are included in base rent?</a:t>
            </a:r>
          </a:p>
          <a:p>
            <a:pPr>
              <a:spcAft>
                <a:spcPts val="1200"/>
              </a:spcAft>
              <a:defRPr sz="2100">
                <a:solidFill>
                  <a:srgbClr val="26303A"/>
                </a:solidFill>
                <a:latin typeface="Aptos"/>
              </a:defRPr>
            </a:pPr>
            <a:r>
              <a:t>Which records contain invalid dates or other quality problems?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257800"/>
            <a:ext cx="8503920" cy="685800"/>
          </a:xfrm>
          <a:prstGeom prst="roundRect">
            <a:avLst/>
          </a:prstGeom>
          <a:solidFill>
            <a:srgbClr val="FFF4E8"/>
          </a:solidFill>
          <a:ln>
            <a:solidFill>
              <a:srgbClr val="E88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62B46"/>
                </a:solidFill>
                <a:latin typeface="Aptos"/>
              </a:defRPr>
            </a:pPr>
            <a:r>
              <a:t>Insert SQL result screenshots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Limitations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37960"/>
            <a:ext cx="11201400" cy="18288"/>
          </a:xfrm>
          <a:prstGeom prst="rect">
            <a:avLst/>
          </a:prstGeom>
          <a:solidFill>
            <a:srgbClr val="DC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SF Rent Board Housing Inventory  |  DATA 201  |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The supplied local flat CSV has blank block, neighborhood, and supervisor-district labels.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Rent and square footage are ranges, not exact measurements.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The source does not provide a stable unit identifier across years.</a:t>
            </a:r>
          </a:p>
          <a:p>
            <a:pPr>
              <a:spcAft>
                <a:spcPts val="1200"/>
              </a:spcAft>
              <a:defRPr sz="1900">
                <a:solidFill>
                  <a:srgbClr val="26303A"/>
                </a:solidFill>
                <a:latin typeface="Aptos"/>
              </a:defRPr>
            </a:pPr>
            <a:r>
              <a:t>The normalized database preserves the source records while making cleaning decisions visible and auditable.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57800"/>
            <a:ext cx="10241280" cy="685800"/>
          </a:xfrm>
          <a:prstGeom prst="roundRect">
            <a:avLst/>
          </a:prstGeom>
          <a:solidFill>
            <a:srgbClr val="E7F6F7"/>
          </a:solidFill>
          <a:ln>
            <a:solidFill>
              <a:srgbClr val="12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62B46"/>
                </a:solidFill>
                <a:latin typeface="Aptos"/>
              </a:defRPr>
            </a:pPr>
            <a:r>
              <a:t>Normalization makes a complex housing dataset easier to query, explain, and validate.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