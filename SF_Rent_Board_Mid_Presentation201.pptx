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9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5029200"/>
            <a:ext cx="2377440" cy="2377440"/>
          </a:xfrm>
          <a:prstGeom prst="ellipse">
            <a:avLst/>
          </a:prstGeom>
          <a:solidFill>
            <a:srgbClr val="243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64240" y="5577840"/>
            <a:ext cx="1280160" cy="1280160"/>
          </a:xfrm>
          <a:prstGeom prst="ellipse">
            <a:avLst/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0482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Francisco Rent Board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Inventory</a:t>
            </a:r>
          </a:p>
          <a:p>
            <a:pPr marL="0" indent="0">
              <a:lnSpc>
                <a:spcPct val="105000"/>
              </a:lnSpc>
              <a:buNone/>
            </a:pP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160519"/>
            <a:ext cx="786384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introduction, relational schema design, and initial SQL exploration</a:t>
            </a:r>
          </a:p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Group2- Keerat Khandpur, shraddha Patel,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Junyan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Huang, Andrei Solomon Duque,</a:t>
            </a:r>
          </a:p>
          <a:p>
            <a:pPr marL="0" indent="0">
              <a:buNone/>
            </a:pPr>
            <a:endParaRPr lang="en-US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Data201 – Professor 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Dr.Guannan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Liu </a:t>
            </a:r>
          </a:p>
          <a:p>
            <a:pPr marL="0" indent="0">
              <a:buNone/>
            </a:pPr>
            <a:endParaRPr lang="en-US" i="1" dirty="0">
              <a:solidFill>
                <a:srgbClr val="CADCFC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5806440"/>
            <a:ext cx="2743200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Technologies for Data Intelligence Applications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DataSF Open Data Portal — Rent Board Housing Inventory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dataset, and what it contains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7099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743200" y="17099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17099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covered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1600200"/>
            <a:ext cx="4096512" cy="4480560"/>
          </a:xfrm>
          <a:prstGeom prst="roundRect">
            <a:avLst>
              <a:gd name="adj" fmla="val 17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90956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21031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&amp; County of San Francisco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 Board, via the DataSF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Data Portal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09560" y="3200400"/>
            <a:ext cx="3566160" cy="0"/>
          </a:xfrm>
          <a:prstGeom prst="line">
            <a:avLst/>
          </a:prstGeom>
          <a:noFill/>
          <a:ln w="12700">
            <a:solidFill>
              <a:srgbClr val="3A4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909560" y="33649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rent-registration submission, citywide — covering buildings, individual units, and each reporting event over time.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it: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maps naturally onto a multi-entity relational design — properties, units, submissions, occupancy history, and utility terms — with real candidate keys and relationships to justify, not invent.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60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our goals: </a:t>
            </a: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policy-relevant queries — rent trends by neighborhood, vacancy patterns, comparisons across supervisor districts — that translate directly into final-project dashboards.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25780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" y="53858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03504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3492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link</a:t>
            </a: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/>
              <a:t>https://</a:t>
            </a:r>
            <a:r>
              <a:rPr lang="en-US" sz="1000" dirty="0" err="1"/>
              <a:t>data.sf.gov</a:t>
            </a:r>
            <a:r>
              <a:rPr lang="en-US" sz="1000" dirty="0"/>
              <a:t>/Housing-and-Buildings/Rent-Board-Housing-Inventory/gdc7-dmcn/</a:t>
            </a:r>
            <a:r>
              <a:rPr lang="en-US" sz="1000" dirty="0" err="1"/>
              <a:t>data_preview</a:t>
            </a:r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complexity &amp; preprocessing needs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37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Messiness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20370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monthly_rent is reported in $250 bands with frequent blanks; occupancy_or_vacancy_date_history arrives as a free-text log rather than one clean field, and must be parsed into discrete dated events.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3337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1323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55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repetition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2102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unit_count and block_num are duplicated across the building- and unit-level source columns, and no single field in the source uniquely identifies an individual unit.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3232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3232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72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Richness for queries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03834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thematic attribute groups — property, unit, submission, occupancy history, and utilities — give us enough breadth for multi-table joins, aggregations, and time-series analysis across submission years.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entities  •  4 relationships  •  candidate keys resolved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331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2331720" cy="19202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371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828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block_num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103120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block_address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year_property_built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analysis_neighborhood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supervisor_district, unit_count, point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3317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563624"/>
            <a:ext cx="2331720" cy="19202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337560" y="1371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1828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unit_id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block_num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355848" y="2103120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bedroom_count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bathroom_count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square_footage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563624"/>
            <a:ext cx="2606040" cy="19202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26480" y="1371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SubmissionRecord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1828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unique_id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unit_id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2103120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submission_year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case_type_name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occupancy_type, past_occupancy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monthly_rent, signature_date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vacancy_date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45262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452628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5040" y="4718304"/>
            <a:ext cx="2606040" cy="19202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126480" y="4526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OccupancyHistory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144768" y="49834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occupancy_log_id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unique_id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44768" y="525780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occupancy_or_vacancy_date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status_description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44000" y="45262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44000" y="4526280"/>
            <a:ext cx="260604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44000" y="4718304"/>
            <a:ext cx="2606040" cy="19202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235440" y="4526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UtilityInclusion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253728" y="49834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PK/FK  unique_id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53728" y="525780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includes_water_sewer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includes_gas, includes_electric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includes_refuse, includes_other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88920" y="221742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06624" y="2089404"/>
            <a:ext cx="62179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2706624" y="20894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0" y="2217420"/>
            <a:ext cx="45720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95544" y="2157984"/>
            <a:ext cx="62179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495544" y="215798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47154" y="3337560"/>
            <a:ext cx="0" cy="11887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36258" y="3803904"/>
            <a:ext cx="62179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6636258" y="38039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641080" y="2846070"/>
            <a:ext cx="502920" cy="196367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581644" y="3699891"/>
            <a:ext cx="62179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8581644" y="3699891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schema, keys &amp; FK justification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76272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176272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176272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0352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3E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1579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block_num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450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block_address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2761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year_property_built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3072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point, analysis_neighborhood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supervisor_district, unit_count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07208" y="1554480"/>
            <a:ext cx="2176272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07208" y="1554480"/>
            <a:ext cx="2176272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07208" y="1783080"/>
            <a:ext cx="2176272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880360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98648" y="215798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3E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898648" y="21579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410712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unit_id  (new surrogate key)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98648" y="256032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898648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block_num  →  Property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2852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bedroom_count, bathroom_count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3163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square_footage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57216" y="1554480"/>
            <a:ext cx="2176272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57216" y="1554480"/>
            <a:ext cx="2176272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57216" y="1783080"/>
            <a:ext cx="2176272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230368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SubmissionRecord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48656" y="215798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3E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248656" y="21579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48656" y="246888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248656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760720" y="2450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unit_id  →  Unit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760720" y="27614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submission_year, case_type_name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760720" y="3072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occupancy_type, past_occupancy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760720" y="3383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monthly_rent, signature_date, vacancy_date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07224" y="1554480"/>
            <a:ext cx="2176272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507224" y="1554480"/>
            <a:ext cx="2176272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507224" y="1783080"/>
            <a:ext cx="2176272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7580376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OccupancyHistory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598664" y="215798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F3E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7598664" y="21579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8110728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occupancy_log_id  (new surrogate key)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98664" y="256032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7598664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8110728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unique_id  →  SubmissionRecord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110728" y="2944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occupancy_or_vacancy_date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110728" y="32552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status_description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857232" y="1554480"/>
            <a:ext cx="2176272" cy="32461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857232" y="1554480"/>
            <a:ext cx="2176272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857232" y="1783080"/>
            <a:ext cx="2176272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9930384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UtilityInclusion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948672" y="215798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9948672" y="21579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10460736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unique_id  →  SubmissionRecord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460736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includes_water_sewer, includes_gas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10460736" y="2852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includes_electricity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0460736" y="3163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includes_refuse, includes_other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498348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58368" y="5148072"/>
            <a:ext cx="365760" cy="365760"/>
          </a:xfrm>
          <a:prstGeom prst="ellipse">
            <a:avLst/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658368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1170432" y="507492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resolved:  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has no natural key for an individual unit, so we introduce a surrogate unit_id; the occupancy log is a repeating field, so it becomes its own child table (OccupancyHistory) keyed by a surrogate occupancy_log_id.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Normalization: getting the schema to 3NF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856232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856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9631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values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3232" y="3108960"/>
            <a:ext cx="3099816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13232" y="3264408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occupancy_or_vacancy_date_history arrived as one free-text log per submission. We split it into OccupancyHistory, one row per dated event, so every column holds a single atomic value.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88536" y="16002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17136" y="1856232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17136" y="1856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49631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functional dependency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544568" y="3108960"/>
            <a:ext cx="3099816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44568" y="3264408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had no key for an individual unit, so bedroom_count, bathroom_count, and square_footage couldn't fully depend on anything. A surrogate unit_id makes them depend on the whole (single-column) key.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19872" y="160020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3F6FC"/>
          </a:solidFill>
          <a:ln w="12700">
            <a:solidFill>
              <a:srgbClr val="D7E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48472" y="1856232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348472" y="1856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496312"/>
            <a:ext cx="3099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transitive dependencies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375904" y="3108960"/>
            <a:ext cx="3099816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375904" y="3264408"/>
            <a:ext cx="3099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unit_count is a fact about the property, not the unit — storing it in Unit created Unit → block_num → unit_count. We removed it from Unit and keep it only in Property.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Loaded into MySQL — verification in progress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QUERIES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Property;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Unit;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SubmissionRecord;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OccupancyHistory;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UtilityInclusion;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referential integrity spot-check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u.unit_id FROM Unit u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Property p ON u.block_num = p.block_num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p.block_num IS NULL;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605272" cy="4480560"/>
          </a:xfrm>
          <a:prstGeom prst="roundRect">
            <a:avLst>
              <a:gd name="adj" fmla="val 1633"/>
            </a:avLst>
          </a:prstGeom>
          <a:solidFill>
            <a:srgbClr val="F3F6FC"/>
          </a:solidFill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58784" y="2880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558784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58784" y="2880360"/>
            <a:ext cx="731520" cy="731520"/>
          </a:xfrm>
          <a:prstGeom prst="ellipse">
            <a:avLst/>
          </a:prstGeom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309360" y="374904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MySQL screenshot here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4160520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per table and a sample SELECT * (5–10 rows) confirming a clean import, once the team finishes loading.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SQL EXPLORATION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&amp; advanced queries against the schema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7007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buildings by district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66544"/>
            <a:ext cx="51206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block_address, unit_count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Property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supervisor_district = 6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unit_count DESC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3867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496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by occupancy type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15384"/>
            <a:ext cx="51206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occupancy_type,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submissions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SubmissionRecord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occupancy_type;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45352" y="155448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8232" y="17190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28232" y="17190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16952" y="17007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rent by neighborhood (3-way join)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2066544"/>
            <a:ext cx="51206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p.analysis_neighborhood,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AVG(s.monthly_rent) AS avg_rent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Property p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Unit u ON u.block_num = p.block_num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SubmissionRecord s ON s.unit_id=u.unit_id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p.analysis_neighborhood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avg_rent DESC;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5352" y="370332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8679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28232" y="3867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2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616952" y="38496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vacated more than once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4215384"/>
            <a:ext cx="51206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u.unit_id, COUNT(*) AS vacancies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OccupancyHistory oh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SubmissionRecord 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s.unique_id = oh.unique_id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Unit u ON u.unit_id = s.unit_id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oh.status_description = 'Vacant'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u.unit_id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1;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9253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so far:  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blank/banded monthly_rent values need filtering before averaging; the neighborhood join touches three tables, so we're adding indexes on block_num and unit_id before layering on more advanced queries.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NEXT STEPS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we've hit friction, and what's planned for the final project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difficulties so far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78992" y="250545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$250-banded, sometimes-blank monthly_rent values before they're usable in aggregates.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78992" y="346557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key for an individual unit — resolved with a surrogate unit_id, but every FK downstream had to follow.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5262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78992" y="442569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(Property → Unit → SubmissionRecord) already need indexing as row counts grow.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41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8368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improvements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0" y="260604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839712" y="250545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indexes on block_num, unit_id, and supervisor_district to keep joins fast at scale.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35661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39712" y="346557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advanced queries around rent trends over submission_year and vacancy patterns.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5262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9712" y="442569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dashboard visualizations (rent by neighborhood/district) for the final deliverable.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2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Rent Board Housing Inventory  •  Mid-Presentation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1398</Words>
  <Application>Microsoft Macintosh PowerPoint</Application>
  <PresentationFormat>Custom</PresentationFormat>
  <Paragraphs>214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Shraddhaben Natvarlal Patel</cp:lastModifiedBy>
  <cp:revision>2</cp:revision>
  <dcterms:created xsi:type="dcterms:W3CDTF">2026-09-17T20:34:03Z</dcterms:created>
  <dcterms:modified xsi:type="dcterms:W3CDTF">2026-09-17T21:00:44Z</dcterms:modified>
</cp:coreProperties>
</file>